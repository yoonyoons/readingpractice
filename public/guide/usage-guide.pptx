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59af6289-1fce-8175-54e3-8e4486e42741}">
          <p14:sldIdLst>
            <p14:sldId id="256"/>
            <p14:sldId id="257"/>
            <p14:sldId id="258"/>
            <p14:sldId id="259"/>
          </p14:sldIdLst>
        </p14:section>
        <p14:section name="교사편" id="{79deea45-e5d4-e84d-29ac-cd8721e0e84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학생편" id="{fe70c54c-11c9-bbc4-7c0a-73bc2c7a3f45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마무리" id="{85bf1cbb-477d-a5ff-bfd9-c725fd2d2d1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ko-KR" altLang="en-US"/>
              <a:t>7/23/19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Click to edit Master text styles</a:t>
            </a:r>
          </a:p>
          <a:p>
            <a:pPr lvl="1"/>
            <a:r>
              <a:rPr lang="ko-KR" altLang="en-US"/>
              <a:t>Second level</a:t>
            </a:r>
          </a:p>
          <a:p>
            <a:pPr lvl="2"/>
            <a:r>
              <a:rPr lang="ko-KR" altLang="en-US"/>
              <a:t>Third level</a:t>
            </a:r>
          </a:p>
          <a:p>
            <a:pPr lvl="3"/>
            <a:r>
              <a:rPr lang="ko-KR" altLang="en-US"/>
              <a:t>Fourth level</a:t>
            </a:r>
          </a:p>
          <a:p>
            <a:pPr lvl="4"/>
            <a:r>
              <a:rPr lang="ko-KR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ko-KR" altLang="en-US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시사 문해력 기르기 학습지 · 웹사이트 사용 안내서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8EC2FF"/>
                </a:solidFill>
              </a:rPr>
              <a:t>공모전 제출용 · 웹사이트 사용 안내서</a:t>
            </a:r>
            <a:endParaRPr lang="ko-KR" alt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시사 문해력</a:t>
            </a:r>
            <a:endParaRPr lang="ko-KR" altLang="en-US" sz="4000" dirty="0"/>
          </a:p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기르기 학습지</a:t>
            </a:r>
            <a:endParaRPr lang="ko-KR" alt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D1D6DB"/>
                </a:solidFill>
              </a:rPr>
              <a:t>이번 주 뉴스로 어휘력과 문해력을 키우는 수업용 웹 서비스</a:t>
            </a:r>
            <a:endParaRPr lang="ko-KR" alt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교사용 화면 안내</a:t>
            </a:r>
            <a:endParaRPr lang="ko-KR" alt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45720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학생용 화면 안내</a:t>
            </a:r>
            <a:endParaRPr lang="ko-KR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</a:rPr>
              <a:t>만든이 @융융쌤</a:t>
            </a:r>
            <a:endParaRPr lang="ko-KR" altLang="en-US" sz="1200" dirty="0"/>
          </a:p>
        </p:txBody>
      </p:sp>
      <p:sp>
        <p:nvSpPr>
          <p:cNvPr id="8" name="screenshot frame"/>
          <p:cNvSpPr/>
          <p:nvPr/>
        </p:nvSpPr>
        <p:spPr>
          <a:xfrm>
            <a:off x="6629400" y="1778125"/>
            <a:ext cx="5120640" cy="3301750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screenshot home" descr="시사 문해력 기르기 학습지 첫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51277"/>
            <a:ext cx="4974336" cy="31554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한눈에 보기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매주 새 뉴스로, 읽고 · 풀고 · 요약하고 · 생각을 나눠요</a:t>
            </a:r>
            <a:endParaRPr lang="ko-KR" alt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6B7684"/>
                </a:solidFill>
              </a:rPr>
              <a:t>AI가 매주 주요 뉴스를 학년 수준에 맞춘 기사·퀴즈로 미리 만들어 두면, 선생님은 검토 후 배포만 하면 돼요. 학생 결과는 자동으로 모여요.</a:t>
            </a:r>
            <a:endParaRPr lang="ko-KR" altLang="en-US" sz="1500" dirty="0"/>
          </a:p>
        </p:txBody>
      </p:sp>
      <p:sp>
        <p:nvSpPr>
          <p:cNvPr id="5" name="stat card"/>
          <p:cNvSpPr/>
          <p:nvPr/>
        </p:nvSpPr>
        <p:spPr>
          <a:xfrm>
            <a:off x="548640" y="2103120"/>
            <a:ext cx="3520440" cy="1691640"/>
          </a:xfrm>
          <a:prstGeom prst="roundRect">
            <a:avLst>
              <a:gd name="adj" fmla="val 81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3182F6"/>
                </a:solidFill>
              </a:rPr>
              <a:t>매주 2편</a:t>
            </a:r>
            <a:endParaRPr lang="ko-KR" alt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333D4B"/>
                </a:solidFill>
              </a:rPr>
              <a:t>지난 7일 한국·세계 주요 뉴스에서</a:t>
            </a:r>
            <a:endParaRPr lang="ko-KR" altLang="en-US" sz="1400" dirty="0"/>
          </a:p>
          <a:p>
            <a:pPr indent="0" marL="0">
              <a:buNone/>
            </a:pPr>
            <a:r>
              <a:rPr lang="ko-KR" altLang="en-US" sz="1400" dirty="0">
                <a:solidFill>
                  <a:srgbClr val="333D4B"/>
                </a:solidFill>
              </a:rPr>
              <a:t>주제를 골라 기사 자동 준비</a:t>
            </a:r>
            <a:endParaRPr lang="ko-KR" alt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4297680" y="2103120"/>
            <a:ext cx="3520440" cy="1691640"/>
          </a:xfrm>
          <a:prstGeom prst="roundRect">
            <a:avLst>
              <a:gd name="adj" fmla="val 81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40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3182F6"/>
                </a:solidFill>
              </a:rPr>
              <a:t>3개 학년군</a:t>
            </a:r>
            <a:endParaRPr lang="ko-KR" alt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71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333D4B"/>
                </a:solidFill>
              </a:rPr>
              <a:t>초3~4 · 초5~6 · 중학생</a:t>
            </a:r>
            <a:endParaRPr lang="ko-KR" altLang="en-US" sz="1400" dirty="0"/>
          </a:p>
          <a:p>
            <a:pPr indent="0" marL="0">
              <a:buNone/>
            </a:pPr>
            <a:r>
              <a:rPr lang="ko-KR" altLang="en-US" sz="1400" dirty="0">
                <a:solidFill>
                  <a:srgbClr val="333D4B"/>
                </a:solidFill>
              </a:rPr>
              <a:t>수준별 기사 길이·어휘·채점 기준</a:t>
            </a:r>
            <a:endParaRPr lang="ko-KR" alt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8046720" y="2103120"/>
            <a:ext cx="3520440" cy="1691640"/>
          </a:xfrm>
          <a:prstGeom prst="roundRect">
            <a:avLst>
              <a:gd name="adj" fmla="val 81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3182F6"/>
                </a:solidFill>
              </a:rPr>
              <a:t>1번 클릭</a:t>
            </a:r>
            <a:endParaRPr lang="ko-KR" alt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971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333D4B"/>
                </a:solidFill>
              </a:rPr>
              <a:t>'이번 주 기사 불러오기'로</a:t>
            </a:r>
            <a:endParaRPr lang="ko-KR" altLang="en-US" sz="1400" dirty="0"/>
          </a:p>
          <a:p>
            <a:pPr indent="0" marL="0">
              <a:buNone/>
            </a:pPr>
            <a:r>
              <a:rPr lang="ko-KR" altLang="en-US" sz="1400" dirty="0">
                <a:solidFill>
                  <a:srgbClr val="333D4B"/>
                </a:solidFill>
              </a:rPr>
              <a:t>우리 반 학습지 초안 완성</a:t>
            </a:r>
            <a:endParaRPr lang="ko-KR" alt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학생 학습 4단계</a:t>
            </a:r>
            <a:endParaRPr lang="ko-KR" altLang="en-US" sz="1600" dirty="0"/>
          </a:p>
        </p:txBody>
      </p:sp>
      <p:sp>
        <p:nvSpPr>
          <p:cNvPr id="15" name="flow card"/>
          <p:cNvSpPr/>
          <p:nvPr/>
        </p:nvSpPr>
        <p:spPr>
          <a:xfrm>
            <a:off x="548640" y="45720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754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기사 읽기</a:t>
            </a:r>
            <a:endParaRPr lang="ko-KR" alt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학년 수준 기사, 파란 낱말을 누르면 뜻 보기</a:t>
            </a:r>
            <a:endParaRPr lang="ko-KR" alt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50292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8B95A1"/>
                </a:solidFill>
              </a:rPr>
              <a:t>›</a:t>
            </a:r>
            <a:endParaRPr lang="ko-KR" altLang="en-US" sz="2400" dirty="0"/>
          </a:p>
        </p:txBody>
      </p:sp>
      <p:sp>
        <p:nvSpPr>
          <p:cNvPr id="20" name="flow card"/>
          <p:cNvSpPr/>
          <p:nvPr/>
        </p:nvSpPr>
        <p:spPr>
          <a:xfrm>
            <a:off x="3364992" y="45720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93592" y="475488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96512" y="4754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어휘 퀴즈</a:t>
            </a:r>
            <a:endParaRPr lang="ko-KR" alt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593592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빈칸 채우기 · 비슷한 말 · 내용 이해 7문항</a:t>
            </a:r>
            <a:endParaRPr lang="ko-KR" alt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50292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8B95A1"/>
                </a:solidFill>
              </a:rPr>
              <a:t>›</a:t>
            </a:r>
            <a:endParaRPr lang="ko-KR" altLang="en-US" sz="2400" dirty="0"/>
          </a:p>
        </p:txBody>
      </p:sp>
      <p:sp>
        <p:nvSpPr>
          <p:cNvPr id="25" name="flow card"/>
          <p:cNvSpPr/>
          <p:nvPr/>
        </p:nvSpPr>
        <p:spPr>
          <a:xfrm>
            <a:off x="6181344" y="45720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9944" y="475488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4754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스스로 요약</a:t>
            </a:r>
            <a:endParaRPr lang="ko-KR" alt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AI 선생님이 100점 만점 채점과 피드백</a:t>
            </a:r>
            <a:endParaRPr lang="ko-KR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741664" y="50292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8B95A1"/>
                </a:solidFill>
              </a:rPr>
              <a:t>›</a:t>
            </a:r>
            <a:endParaRPr lang="ko-KR" altLang="en-US" sz="2400" dirty="0"/>
          </a:p>
        </p:txBody>
      </p:sp>
      <p:sp>
        <p:nvSpPr>
          <p:cNvPr id="30" name="flow card"/>
          <p:cNvSpPr/>
          <p:nvPr/>
        </p:nvSpPr>
        <p:spPr>
          <a:xfrm>
            <a:off x="8997696" y="45720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26296" y="475488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4754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생각 나누기</a:t>
            </a:r>
            <a:endParaRPr lang="ko-KR" alt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입장과 까닭 쓰고 친구들 생각 보기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818388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전체 흐름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선생님이 배포하면, 학생이 배우고, 결과는 다시 선생님께</a:t>
            </a:r>
            <a:endParaRPr lang="ko-KR" altLang="en-US" sz="2800" dirty="0"/>
          </a:p>
        </p:txBody>
      </p:sp>
      <p:sp>
        <p:nvSpPr>
          <p:cNvPr id="4" name="선생님 lane"/>
          <p:cNvSpPr/>
          <p:nvPr/>
        </p:nvSpPr>
        <p:spPr>
          <a:xfrm>
            <a:off x="548640" y="1783080"/>
            <a:ext cx="11064240" cy="1600200"/>
          </a:xfrm>
          <a:prstGeom prst="roundRect">
            <a:avLst>
              <a:gd name="adj" fmla="val 8571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3182F6"/>
                </a:solidFill>
              </a:rPr>
              <a:t>선생님</a:t>
            </a:r>
            <a:endParaRPr lang="ko-KR" altLang="en-US" sz="2000" dirty="0"/>
          </a:p>
        </p:txBody>
      </p:sp>
      <p:sp>
        <p:nvSpPr>
          <p:cNvPr id="6" name="flow step"/>
          <p:cNvSpPr/>
          <p:nvPr/>
        </p:nvSpPr>
        <p:spPr>
          <a:xfrm>
            <a:off x="2057400" y="20116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0552" y="208483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가입·로그인</a:t>
            </a:r>
            <a:endParaRPr lang="ko-KR" alt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25603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교육청 메일 인증</a:t>
            </a:r>
            <a:endParaRPr lang="ko-KR" alt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3182F6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10" name="flow step"/>
          <p:cNvSpPr/>
          <p:nvPr/>
        </p:nvSpPr>
        <p:spPr>
          <a:xfrm>
            <a:off x="3657600" y="20116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0752" y="208483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반 만들기</a:t>
            </a:r>
            <a:endParaRPr lang="ko-KR" alt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5603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학년군 선택</a:t>
            </a:r>
            <a:endParaRPr lang="ko-KR" altLang="en-US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반 코드 발급</a:t>
            </a:r>
            <a:endParaRPr lang="ko-KR" alt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3182F6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14" name="flow step"/>
          <p:cNvSpPr/>
          <p:nvPr/>
        </p:nvSpPr>
        <p:spPr>
          <a:xfrm>
            <a:off x="5257800" y="20116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0952" y="208483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기사 불러오기</a:t>
            </a:r>
            <a:endParaRPr lang="ko-KR" alt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25603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이번 주 학습지</a:t>
            </a:r>
            <a:endParaRPr lang="ko-KR" altLang="en-US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초안 자동 완성</a:t>
            </a:r>
            <a:endParaRPr lang="ko-KR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3182F6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18" name="flow step"/>
          <p:cNvSpPr/>
          <p:nvPr/>
        </p:nvSpPr>
        <p:spPr>
          <a:xfrm>
            <a:off x="6858000" y="20116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31152" y="208483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검토·수정</a:t>
            </a:r>
            <a:endParaRPr lang="ko-KR" alt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25603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기사·퀴즈·채점</a:t>
            </a:r>
            <a:endParaRPr lang="ko-KR" altLang="en-US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기준 고치기</a:t>
            </a:r>
            <a:endParaRPr lang="ko-KR" alt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3182F6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22" name="flow step"/>
          <p:cNvSpPr/>
          <p:nvPr/>
        </p:nvSpPr>
        <p:spPr>
          <a:xfrm>
            <a:off x="8458200" y="20116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31352" y="208483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배포</a:t>
            </a:r>
            <a:endParaRPr lang="ko-KR" alt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31352" y="25603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반 코드·QR로</a:t>
            </a:r>
            <a:endParaRPr lang="ko-KR" altLang="en-US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학생 입장</a:t>
            </a:r>
            <a:endParaRPr lang="ko-KR" alt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3182F6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26" name="flow step"/>
          <p:cNvSpPr/>
          <p:nvPr/>
        </p:nvSpPr>
        <p:spPr>
          <a:xfrm>
            <a:off x="10058400" y="201168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31552" y="208483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결과 확인</a:t>
            </a:r>
            <a:endParaRPr lang="ko-KR" alt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256032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분석표·AI 의견</a:t>
            </a:r>
            <a:endParaRPr lang="ko-KR" altLang="en-US" sz="1100" dirty="0"/>
          </a:p>
        </p:txBody>
      </p:sp>
      <p:sp>
        <p:nvSpPr>
          <p:cNvPr id="29" name="학생 lane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8571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61772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FF7A45"/>
                </a:solidFill>
              </a:rPr>
              <a:t>학생</a:t>
            </a:r>
            <a:endParaRPr lang="ko-KR" altLang="en-US" sz="2000" dirty="0"/>
          </a:p>
        </p:txBody>
      </p:sp>
      <p:sp>
        <p:nvSpPr>
          <p:cNvPr id="31" name="flow step"/>
          <p:cNvSpPr/>
          <p:nvPr/>
        </p:nvSpPr>
        <p:spPr>
          <a:xfrm>
            <a:off x="2057400" y="466344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30552" y="473659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입장</a:t>
            </a:r>
            <a:endParaRPr lang="ko-KR" alt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30552" y="521208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반 코드 + 번호</a:t>
            </a:r>
            <a:endParaRPr lang="ko-KR" altLang="en-US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이름 + PIN</a:t>
            </a:r>
            <a:endParaRPr lang="ko-KR" alt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983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FF7A45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35" name="flow step"/>
          <p:cNvSpPr/>
          <p:nvPr/>
        </p:nvSpPr>
        <p:spPr>
          <a:xfrm>
            <a:off x="3657600" y="466344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30752" y="473659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기사 읽기</a:t>
            </a:r>
            <a:endParaRPr lang="ko-KR" alt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730752" y="521208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파란 낱말 뜻 보기</a:t>
            </a:r>
            <a:endParaRPr lang="ko-KR" alt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74920" y="4983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FF7A45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39" name="flow step"/>
          <p:cNvSpPr/>
          <p:nvPr/>
        </p:nvSpPr>
        <p:spPr>
          <a:xfrm>
            <a:off x="5257800" y="466344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30952" y="473659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어휘 퀴즈</a:t>
            </a:r>
            <a:endParaRPr lang="ko-KR" alt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330952" y="521208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7문항, 바로</a:t>
            </a:r>
            <a:endParaRPr lang="ko-KR" altLang="en-US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정답·해설</a:t>
            </a:r>
            <a:endParaRPr lang="ko-KR" alt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4983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FF7A45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43" name="flow step"/>
          <p:cNvSpPr/>
          <p:nvPr/>
        </p:nvSpPr>
        <p:spPr>
          <a:xfrm>
            <a:off x="6858000" y="466344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31152" y="473659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스스로 요약</a:t>
            </a:r>
            <a:endParaRPr lang="ko-KR" alt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931152" y="521208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AI 채점·피드백</a:t>
            </a:r>
            <a:endParaRPr lang="ko-KR" alt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275320" y="4983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FF7A45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47" name="flow step"/>
          <p:cNvSpPr/>
          <p:nvPr/>
        </p:nvSpPr>
        <p:spPr>
          <a:xfrm>
            <a:off x="8458200" y="466344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31352" y="473659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생각 나누기</a:t>
            </a:r>
            <a:endParaRPr lang="ko-KR" alt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531352" y="521208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친구들 생각 보기</a:t>
            </a:r>
            <a:endParaRPr lang="ko-KR" alt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875520" y="4983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FF7A45"/>
                </a:solidFill>
              </a:rPr>
              <a:t>›</a:t>
            </a:r>
            <a:endParaRPr lang="ko-KR" altLang="en-US" sz="2000" dirty="0"/>
          </a:p>
        </p:txBody>
      </p:sp>
      <p:sp>
        <p:nvSpPr>
          <p:cNvPr id="51" name="flow step"/>
          <p:cNvSpPr/>
          <p:nvPr/>
        </p:nvSpPr>
        <p:spPr>
          <a:xfrm>
            <a:off x="10058400" y="466344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131552" y="473659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191F28"/>
                </a:solidFill>
              </a:rPr>
              <a:t>내 학습 분석</a:t>
            </a:r>
            <a:endParaRPr lang="ko-KR" alt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0131552" y="521208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684"/>
                </a:solidFill>
              </a:rPr>
              <a:t>정답률·점수 변화</a:t>
            </a:r>
            <a:endParaRPr lang="ko-KR" alt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57784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</a:rPr>
              <a:t>▼  배포한 학습지가 학생 화면에 바로 열려요</a:t>
            </a:r>
            <a:endParaRPr lang="ko-KR" alt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57784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FF7A45"/>
                </a:solidFill>
              </a:rPr>
              <a:t>▲  학생 기록이 반 화면·결과 분석표로 모여요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818388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처음 화면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첫 화면에서 학생과 선생님이 길을 나눠요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학생으로 시작하기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선생님이 알려 준 반 코드로 입장해요. 회원가입이 필요 없어요.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선생님으로 시작하기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교육청 메일로 가입·로그인하고, 학습지를 만들어 결과를 확인해요.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운영 정책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화면 아래 링크에서 AI 사용과 개인정보 처리 방법을 안내해요.</a:t>
            </a:r>
            <a:endParaRPr lang="ko-KR" altLang="en-US" sz="1400" dirty="0"/>
          </a:p>
        </p:txBody>
      </p:sp>
      <p:sp>
        <p:nvSpPr>
          <p:cNvPr id="13" name="tip"/>
          <p:cNvSpPr txBox="1"/>
          <p:nvPr/>
        </p:nvSpPr>
        <p:spPr>
          <a:xfrm>
            <a:off x="548640" y="5715000"/>
            <a:ext cx="3749040" cy="502920"/>
          </a:xfrm>
          <a:prstGeom prst="roundRect">
            <a:avLst>
              <a:gd name="adj" fmla="val 18182"/>
            </a:avLst>
          </a:prstGeom>
          <a:solidFill>
            <a:srgbClr val="E8F3FF"/>
          </a:solidFill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33D4B"/>
                </a:solidFill>
              </a:rPr>
              <a:t>태블릿·PC 어디서나 웹 브라우저만 있으면 바로 쓸 수 있어요.</a:t>
            </a:r>
            <a:endParaRPr lang="ko-KR" altLang="en-US" sz="1200" dirty="0"/>
          </a:p>
        </p:txBody>
      </p:sp>
      <p:sp>
        <p:nvSpPr>
          <p:cNvPr id="14" name="screenshot frame"/>
          <p:cNvSpPr/>
          <p:nvPr/>
        </p:nvSpPr>
        <p:spPr>
          <a:xfrm>
            <a:off x="4572000" y="1588916"/>
            <a:ext cx="7086600" cy="4548848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screenshot home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1662068"/>
            <a:ext cx="6940296" cy="4402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8EC2FF"/>
                </a:solidFill>
              </a:rPr>
              <a:t>PART 1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선생님 화면</a:t>
            </a:r>
            <a:endParaRPr lang="ko-KR" alt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D1D6DB"/>
                </a:solidFill>
              </a:rPr>
              <a:t>반을 만들고, 이번 주 학습지를 검토해 배포하고, 학생 결과를 확인하는 과정을 순서대로 안내해요.</a:t>
            </a:r>
            <a:endParaRPr lang="ko-KR" altLang="en-US" sz="1600" dirty="0"/>
          </a:p>
        </p:txBody>
      </p:sp>
      <p:sp>
        <p:nvSpPr>
          <p:cNvPr id="5" name="toc item"/>
          <p:cNvSpPr/>
          <p:nvPr/>
        </p:nvSpPr>
        <p:spPr>
          <a:xfrm>
            <a:off x="6492240" y="1325880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325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01</a:t>
            </a:r>
            <a:endParaRPr lang="ko-KR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가입·로그인</a:t>
            </a:r>
            <a:endParaRPr lang="ko-KR" altLang="en-US" sz="1400" dirty="0"/>
          </a:p>
        </p:txBody>
      </p:sp>
      <p:sp>
        <p:nvSpPr>
          <p:cNvPr id="8" name="toc item"/>
          <p:cNvSpPr/>
          <p:nvPr/>
        </p:nvSpPr>
        <p:spPr>
          <a:xfrm>
            <a:off x="6492240" y="216712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1671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02</a:t>
            </a:r>
            <a:endParaRPr lang="ko-KR" alt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671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반 만들기</a:t>
            </a:r>
            <a:endParaRPr lang="ko-KR" altLang="en-US" sz="1400" dirty="0"/>
          </a:p>
        </p:txBody>
      </p:sp>
      <p:sp>
        <p:nvSpPr>
          <p:cNvPr id="11" name="toc item"/>
          <p:cNvSpPr/>
          <p:nvPr/>
        </p:nvSpPr>
        <p:spPr>
          <a:xfrm>
            <a:off x="6492240" y="3008376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03</a:t>
            </a:r>
            <a:endParaRPr lang="ko-KR" alt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0083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이번 주 기사 불러오기</a:t>
            </a:r>
            <a:endParaRPr lang="ko-KR" altLang="en-US" sz="1400" dirty="0"/>
          </a:p>
        </p:txBody>
      </p:sp>
      <p:sp>
        <p:nvSpPr>
          <p:cNvPr id="14" name="toc item"/>
          <p:cNvSpPr/>
          <p:nvPr/>
        </p:nvSpPr>
        <p:spPr>
          <a:xfrm>
            <a:off x="6492240" y="3849624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849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04</a:t>
            </a:r>
            <a:endParaRPr lang="ko-KR" alt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84962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학습지 검토·수정</a:t>
            </a:r>
            <a:endParaRPr lang="ko-KR" altLang="en-US" sz="1400" dirty="0"/>
          </a:p>
        </p:txBody>
      </p:sp>
      <p:sp>
        <p:nvSpPr>
          <p:cNvPr id="17" name="toc item"/>
          <p:cNvSpPr/>
          <p:nvPr/>
        </p:nvSpPr>
        <p:spPr>
          <a:xfrm>
            <a:off x="6492240" y="4690872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46908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05</a:t>
            </a:r>
            <a:endParaRPr lang="ko-KR" alt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69087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퀴즈·요약·생각 편집</a:t>
            </a:r>
            <a:endParaRPr lang="ko-KR" altLang="en-US" sz="1400" dirty="0"/>
          </a:p>
        </p:txBody>
      </p:sp>
      <p:sp>
        <p:nvSpPr>
          <p:cNvPr id="20" name="toc item"/>
          <p:cNvSpPr/>
          <p:nvPr/>
        </p:nvSpPr>
        <p:spPr>
          <a:xfrm>
            <a:off x="9189720" y="1325880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72600" y="1325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06</a:t>
            </a:r>
            <a:endParaRPr lang="ko-KR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기사 추가</a:t>
            </a:r>
            <a:endParaRPr lang="ko-KR" altLang="en-US" sz="1400" dirty="0"/>
          </a:p>
        </p:txBody>
      </p:sp>
      <p:sp>
        <p:nvSpPr>
          <p:cNvPr id="23" name="toc item"/>
          <p:cNvSpPr/>
          <p:nvPr/>
        </p:nvSpPr>
        <p:spPr>
          <a:xfrm>
            <a:off x="9189720" y="216712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72600" y="21671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07</a:t>
            </a:r>
            <a:endParaRPr lang="ko-KR" alt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21671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배포·학생 입장</a:t>
            </a:r>
            <a:endParaRPr lang="ko-KR" altLang="en-US" sz="1400" dirty="0"/>
          </a:p>
        </p:txBody>
      </p:sp>
      <p:sp>
        <p:nvSpPr>
          <p:cNvPr id="26" name="toc item"/>
          <p:cNvSpPr/>
          <p:nvPr/>
        </p:nvSpPr>
        <p:spPr>
          <a:xfrm>
            <a:off x="9189720" y="3008376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7260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08</a:t>
            </a:r>
            <a:endParaRPr lang="ko-KR" alt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0083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반 화면 살펴보기</a:t>
            </a:r>
            <a:endParaRPr lang="ko-KR" altLang="en-US" sz="1400" dirty="0"/>
          </a:p>
        </p:txBody>
      </p:sp>
      <p:sp>
        <p:nvSpPr>
          <p:cNvPr id="29" name="toc item"/>
          <p:cNvSpPr/>
          <p:nvPr/>
        </p:nvSpPr>
        <p:spPr>
          <a:xfrm>
            <a:off x="9189720" y="3849624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72600" y="3849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09</a:t>
            </a:r>
            <a:endParaRPr lang="ko-KR" alt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384962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학습지별 학생 결과</a:t>
            </a:r>
            <a:endParaRPr lang="ko-KR" altLang="en-US" sz="1400" dirty="0"/>
          </a:p>
        </p:txBody>
      </p:sp>
      <p:sp>
        <p:nvSpPr>
          <p:cNvPr id="32" name="toc item"/>
          <p:cNvSpPr/>
          <p:nvPr/>
        </p:nvSpPr>
        <p:spPr>
          <a:xfrm>
            <a:off x="9189720" y="4690872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72600" y="46908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8EC2FF"/>
                </a:solidFill>
              </a:rPr>
              <a:t>10</a:t>
            </a:r>
            <a:endParaRPr lang="ko-KR" alt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469087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결과 분석표·AI 의견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01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가입·로그인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교육청 메일로만 가입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4564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@…go.kr 주소로 인증 코드 6자리를 받아 확인한 뒤 이름·비밀번호를 정해요.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로그인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34564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이메일과 비밀번호로 들어가요. 잊었다면 이메일 찾기·비밀번호 찾기를 눌러요.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가입 전 베타 체험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공용 체험 계정으로 모든 기능을 먼저 써 볼 수 있어요.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5161852" y="1463040"/>
            <a:ext cx="2569337" cy="4800600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signup" descr="sign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004" y="1536192"/>
            <a:ext cx="2423033" cy="46542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754880" y="6355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B7684"/>
                </a:solidFill>
              </a:rPr>
              <a:t>회원가입 (메일 인증)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8527047" y="1463040"/>
            <a:ext cx="2879826" cy="4800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login" descr="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199" y="1536192"/>
            <a:ext cx="2733522" cy="46542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75320" y="6355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B7684"/>
                </a:solidFill>
              </a:rPr>
              <a:t>로그인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02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반 만들기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'+ 반 만들기' 누르기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반 이름(예: 5학년 2반)을 입력해요.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7063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학년군 고르기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18104"/>
            <a:ext cx="3273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초등 3~4학년 · 5~6학년 · 중학생 중에서 골라요. 학년군에 맞춰 기사 길이·어휘·요약 기준이 달라져요.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반 코드 자동 발급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반을 만들면 학생이 입장할 6자리 반 코드와 QR이 생겨요.</a:t>
            </a:r>
            <a:endParaRPr lang="ko-KR" altLang="en-US" sz="1400" dirty="0"/>
          </a:p>
        </p:txBody>
      </p:sp>
      <p:sp>
        <p:nvSpPr>
          <p:cNvPr id="13" name="tip"/>
          <p:cNvSpPr txBox="1"/>
          <p:nvPr/>
        </p:nvSpPr>
        <p:spPr>
          <a:xfrm>
            <a:off x="548640" y="5715000"/>
            <a:ext cx="3749040" cy="502920"/>
          </a:xfrm>
          <a:prstGeom prst="roundRect">
            <a:avLst>
              <a:gd name="adj" fmla="val 18182"/>
            </a:avLst>
          </a:prstGeom>
          <a:solidFill>
            <a:srgbClr val="E8F3FF"/>
          </a:solidFill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33D4B"/>
                </a:solidFill>
              </a:rPr>
              <a:t>보호자 동의서·학교운영위원회 심의 양식(hwpx)도 이 화면에서 내려받아요.</a:t>
            </a:r>
            <a:endParaRPr lang="ko-KR" altLang="en-US" sz="1200" dirty="0"/>
          </a:p>
        </p:txBody>
      </p:sp>
      <p:sp>
        <p:nvSpPr>
          <p:cNvPr id="14" name="screenshot frame"/>
          <p:cNvSpPr/>
          <p:nvPr/>
        </p:nvSpPr>
        <p:spPr>
          <a:xfrm>
            <a:off x="5458331" y="1508760"/>
            <a:ext cx="5313938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screenshot create" descr="cre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1483" y="1581912"/>
            <a:ext cx="5167634" cy="4562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03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이번 주 기사 불러오기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매주 자동 준비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매주 월요일 새벽, 지난 7일 주요 뉴스에서 주제 2개를 골라 학년군별 기사·퀴즈를 미리 만들어 둬요.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264408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26440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버튼 한 번으로 초안 완성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611880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'이번 주 기사 불러오기'를 누르면 우리 반 수준의 학습지 초안이 바로 만들어져요.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590288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5902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반 코드·QR 확인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937760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오른쪽 파란 카드에서 반 코드를 복사하거나 QR을 크게 띄워요.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5145567" y="1508760"/>
            <a:ext cx="5939466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class-empty" descr="class-emp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8719" y="1581912"/>
            <a:ext cx="5793162" cy="4562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04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학습지 검토·수정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기사 탭으로 오가기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기사를 골라 ◀ ▶로 순서를 바꾸고 ✕로 뺄 수 있어요.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715768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1576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제목·본문 고치기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06324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'왜 알아야 할까요?'와 본문을 직접 다듬어요.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3739896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73989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핵심 어휘 편집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08736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학생 화면에서 파란 낱말로 보이고, 누르면 뜻이 나와요.</a:t>
            </a:r>
            <a:endParaRPr lang="ko-KR" altLang="en-US" sz="1400" dirty="0"/>
          </a:p>
        </p:txBody>
      </p:sp>
      <p:sp>
        <p:nvSpPr>
          <p:cNvPr id="13" name="step number"/>
          <p:cNvSpPr txBox="1"/>
          <p:nvPr/>
        </p:nvSpPr>
        <p:spPr>
          <a:xfrm>
            <a:off x="548640" y="4764024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476402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AI로 다시 만들기</a:t>
            </a:r>
            <a:endParaRPr lang="ko-KR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5111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마음에 들지 않는 기사는 새로 만들 수 있어요.</a:t>
            </a:r>
            <a:endParaRPr lang="ko-KR" altLang="en-US" sz="1400" dirty="0"/>
          </a:p>
        </p:txBody>
      </p:sp>
      <p:sp>
        <p:nvSpPr>
          <p:cNvPr id="16" name="screenshot frame"/>
          <p:cNvSpPr/>
          <p:nvPr/>
        </p:nvSpPr>
        <p:spPr>
          <a:xfrm>
            <a:off x="5159381" y="1508760"/>
            <a:ext cx="5911839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ws-article" descr="ws-arti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533" y="1581912"/>
            <a:ext cx="5765535" cy="4562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05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퀴즈 · 요약 채점 기준 · 생각 나누기 편집</a:t>
            </a:r>
            <a:endParaRPr lang="ko-KR" altLang="en-US" sz="2800" dirty="0"/>
          </a:p>
        </p:txBody>
      </p:sp>
      <p:sp>
        <p:nvSpPr>
          <p:cNvPr id="4" name="screenshot frame"/>
          <p:cNvSpPr/>
          <p:nvPr/>
        </p:nvSpPr>
        <p:spPr>
          <a:xfrm>
            <a:off x="760267" y="1508760"/>
            <a:ext cx="3371506" cy="352044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screenshot t-quiz" descr="t-qu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19" y="1581912"/>
            <a:ext cx="3225202" cy="33741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663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어휘 퀴즈 7문항</a:t>
            </a:r>
            <a:endParaRPr lang="ko-KR" alt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1383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문항 유형·보기·정답·해설을 고쳐요. Q1~Q7 버튼이나 '이전/다음 문항'으로 한 문항씩 넘겨 봐요.</a:t>
            </a:r>
            <a:endParaRPr lang="ko-KR" altLang="en-US" sz="1300" dirty="0"/>
          </a:p>
        </p:txBody>
      </p:sp>
      <p:sp>
        <p:nvSpPr>
          <p:cNvPr id="8" name="screenshot frame"/>
          <p:cNvSpPr/>
          <p:nvPr/>
        </p:nvSpPr>
        <p:spPr>
          <a:xfrm>
            <a:off x="5082747" y="1508760"/>
            <a:ext cx="2407505" cy="3520440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screenshot t-criteria" descr="t-criter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899" y="1581912"/>
            <a:ext cx="2261201" cy="33741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51663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요약 채점 기준</a:t>
            </a:r>
            <a:endParaRPr lang="ko-KR" alt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55138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AI가 학생 요약을 채점할 때 기준으로 삼는 핵심 내용과 모범 요약이에요.</a:t>
            </a:r>
            <a:endParaRPr lang="ko-KR" altLang="en-US" sz="1300" dirty="0"/>
          </a:p>
        </p:txBody>
      </p:sp>
      <p:sp>
        <p:nvSpPr>
          <p:cNvPr id="12" name="screenshot frame"/>
          <p:cNvSpPr/>
          <p:nvPr/>
        </p:nvSpPr>
        <p:spPr>
          <a:xfrm>
            <a:off x="8183880" y="1508760"/>
            <a:ext cx="3429000" cy="3505938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screenshot t-opinion" descr="t-opin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581912"/>
            <a:ext cx="3282696" cy="33596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51663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생각 나누기</a:t>
            </a:r>
            <a:endParaRPr lang="ko-KR" alt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55138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토론 질문과 입장(예: 바꿔야 해요 / 그대로 해도 돼요)을 정해요.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06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원하는 기사 추가하기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'＋ 기사 추가' 누르기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학습지 편집 화면의 기사 탭 옆에 있어요.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7063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주소나 본문 붙여넣기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1810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수업에 쓰고 싶은 신문 기사 주소(또는 본문)를 넣어요.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3849624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84962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우리 반 수준으로 변환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197096"/>
            <a:ext cx="3273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AI가 반 학년군에 맞춰 기사·어휘·퀴즈·생각 나누기 질문을 만들어 학습지 끝에 넣어요.</a:t>
            </a:r>
            <a:endParaRPr lang="ko-KR" altLang="en-US" sz="1400" dirty="0"/>
          </a:p>
        </p:txBody>
      </p:sp>
      <p:sp>
        <p:nvSpPr>
          <p:cNvPr id="13" name="tip"/>
          <p:cNvSpPr txBox="1"/>
          <p:nvPr/>
        </p:nvSpPr>
        <p:spPr>
          <a:xfrm>
            <a:off x="548640" y="5715000"/>
            <a:ext cx="3749040" cy="502920"/>
          </a:xfrm>
          <a:prstGeom prst="roundRect">
            <a:avLst>
              <a:gd name="adj" fmla="val 18182"/>
            </a:avLst>
          </a:prstGeom>
          <a:solidFill>
            <a:srgbClr val="E8F3FF"/>
          </a:solidFill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33D4B"/>
                </a:solidFill>
              </a:rPr>
              <a:t>학습지 하나에 기사는 최대 5편까지 넣을 수 있어요.</a:t>
            </a:r>
            <a:endParaRPr lang="ko-KR" altLang="en-US" sz="1200" dirty="0"/>
          </a:p>
        </p:txBody>
      </p:sp>
      <p:sp>
        <p:nvSpPr>
          <p:cNvPr id="14" name="screenshot frame"/>
          <p:cNvSpPr/>
          <p:nvPr/>
        </p:nvSpPr>
        <p:spPr>
          <a:xfrm>
            <a:off x="5226979" y="1508760"/>
            <a:ext cx="5776643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screenshot addarticle" descr="addarti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0131" y="1581912"/>
            <a:ext cx="5630339" cy="4562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07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배포하고 학생 입장시키기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'학생에게 배포하기'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누르는 즉시 학생 화면에 학습지가 열려요. '배포 취소'로 되돌릴 수 있어요.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QR 크게 보기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3273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반 화면의 '크게 보기'로 칠판 TV에 QR을 띄우면, 학생이 카메라로 찍어 바로 입장해요.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590288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5902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안내문 인쇄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937760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'인쇄'로 QR과 반 코드 안내문을 뽑아 나눠 줄 수 있어요.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572000" y="2075118"/>
            <a:ext cx="4480560" cy="3576443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published" descr="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2148270"/>
            <a:ext cx="4334256" cy="3430139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0" y="574300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B7684"/>
                </a:solidFill>
              </a:rPr>
              <a:t>배포 중인 학습지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9235440" y="2283428"/>
            <a:ext cx="2423160" cy="2565464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qr" descr="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2356580"/>
            <a:ext cx="2276856" cy="24191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235440" y="49403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B7684"/>
                </a:solidFill>
              </a:rPr>
              <a:t>QR 크게 보기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08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반 화면 한눈에 보기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학습지 목록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배포 상태와 '학습 완료 5/6명'처럼 완료한 학생 수를 보여 줘요.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962656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96265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반 결과 분석표 요약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10128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최근 4주 반 평균 퀴즈 정답률·요약 점수를 바로 확인해요.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23367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학생 성취도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81144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학생마다 퀴즈 추이와 점수를 보고, 누르면 자세히 펼쳐져요.</a:t>
            </a:r>
            <a:endParaRPr lang="ko-KR" altLang="en-US" sz="1400" dirty="0"/>
          </a:p>
        </p:txBody>
      </p:sp>
      <p:sp>
        <p:nvSpPr>
          <p:cNvPr id="13" name="step number"/>
          <p:cNvSpPr txBox="1"/>
          <p:nvPr/>
        </p:nvSpPr>
        <p:spPr>
          <a:xfrm>
            <a:off x="548640" y="5504688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55046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학생 계정 관리</a:t>
            </a:r>
            <a:endParaRPr lang="ko-KR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5852160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PIN 상태와 최근 접속을 보고 PIN 초기화·삭제를 해요.</a:t>
            </a:r>
            <a:endParaRPr lang="ko-KR" altLang="en-US" sz="1400" dirty="0"/>
          </a:p>
        </p:txBody>
      </p:sp>
      <p:sp>
        <p:nvSpPr>
          <p:cNvPr id="16" name="screenshot frame"/>
          <p:cNvSpPr/>
          <p:nvPr/>
        </p:nvSpPr>
        <p:spPr>
          <a:xfrm>
            <a:off x="6347951" y="1463040"/>
            <a:ext cx="3534698" cy="4800600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class" descr="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1103" y="1536192"/>
            <a:ext cx="3388394" cy="46542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09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학습지별 학생 결과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기사별 요약 카드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완독 인원 · 퀴즈 정답률 · 요약 평균 · 생각 나눈 학생 수를 보여 줘요.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962656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96265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학생별 결과 표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10128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학생마다 완독·퀴즈·요약 점수·생각 제출 여부를 한 표로 봐요.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23367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자세히 보기·관리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81144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학생을 누르면 요약문·AI 피드백·의견을 보고, 알맞지 않은 의견은 숨겨요.</a:t>
            </a:r>
            <a:endParaRPr lang="ko-KR" altLang="en-US" sz="1400" dirty="0"/>
          </a:p>
        </p:txBody>
      </p:sp>
      <p:sp>
        <p:nvSpPr>
          <p:cNvPr id="13" name="step number"/>
          <p:cNvSpPr txBox="1"/>
          <p:nvPr/>
        </p:nvSpPr>
        <p:spPr>
          <a:xfrm>
            <a:off x="548640" y="5504688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55046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엑셀(CSV) 내려받기</a:t>
            </a:r>
            <a:endParaRPr lang="ko-KR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585216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결과를 내려받아 평가 자료로 쓸 수 있어요.</a:t>
            </a:r>
            <a:endParaRPr lang="ko-KR" altLang="en-US" sz="1400" dirty="0"/>
          </a:p>
        </p:txBody>
      </p:sp>
      <p:sp>
        <p:nvSpPr>
          <p:cNvPr id="16" name="screenshot frame"/>
          <p:cNvSpPr/>
          <p:nvPr/>
        </p:nvSpPr>
        <p:spPr>
          <a:xfrm>
            <a:off x="5175308" y="1508760"/>
            <a:ext cx="5879985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ws-results" descr="ws-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460" y="1581912"/>
            <a:ext cx="5733681" cy="4562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교사편 · 10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결과 분석표와 AI 종합 의견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기간을 골라 모아 보기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반 전체 정답률·요약 평균과 반에서 많이 틀린 낱말을 보여 줘요.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도움이 필요한 학생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최근 3주 퀴즈나 요약이 30% 미만이면 '도움 필요'로 표시돼요.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AI 의견 만들기·고치기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3273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체크한 학생마다 학생용 격려 문장과 교사용 지도 메모를 만들어요. 학생용 문장은 학생 화면에 보여요.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5247884" y="1508760"/>
            <a:ext cx="5734832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report-table" descr="report-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036" y="1581912"/>
            <a:ext cx="5588528" cy="4562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FFB08F"/>
                </a:solidFill>
              </a:rPr>
              <a:t>PART 2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학생 화면</a:t>
            </a:r>
            <a:endParaRPr lang="ko-KR" alt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D1D6DB"/>
                </a:solidFill>
              </a:rPr>
              <a:t>반 코드로 입장해 기사 읽기 → 어휘 퀴즈 → 스스로 요약 → 생각 나누기 순서로 공부하고, 내 학습 분석을 확인해요.</a:t>
            </a:r>
            <a:endParaRPr lang="ko-KR" altLang="en-US" sz="1600" dirty="0"/>
          </a:p>
        </p:txBody>
      </p:sp>
      <p:sp>
        <p:nvSpPr>
          <p:cNvPr id="5" name="toc item"/>
          <p:cNvSpPr/>
          <p:nvPr/>
        </p:nvSpPr>
        <p:spPr>
          <a:xfrm>
            <a:off x="6492240" y="1325880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325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01</a:t>
            </a:r>
            <a:endParaRPr lang="ko-KR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반 코드로 입장</a:t>
            </a:r>
            <a:endParaRPr lang="ko-KR" altLang="en-US" sz="1400" dirty="0"/>
          </a:p>
        </p:txBody>
      </p:sp>
      <p:sp>
        <p:nvSpPr>
          <p:cNvPr id="8" name="toc item"/>
          <p:cNvSpPr/>
          <p:nvPr/>
        </p:nvSpPr>
        <p:spPr>
          <a:xfrm>
            <a:off x="6492240" y="216712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1671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02</a:t>
            </a:r>
            <a:endParaRPr lang="ko-KR" alt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671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이번 주 학습지</a:t>
            </a:r>
            <a:endParaRPr lang="ko-KR" altLang="en-US" sz="1400" dirty="0"/>
          </a:p>
        </p:txBody>
      </p:sp>
      <p:sp>
        <p:nvSpPr>
          <p:cNvPr id="11" name="toc item"/>
          <p:cNvSpPr/>
          <p:nvPr/>
        </p:nvSpPr>
        <p:spPr>
          <a:xfrm>
            <a:off x="6492240" y="3008376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03</a:t>
            </a:r>
            <a:endParaRPr lang="ko-KR" alt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0083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기사 읽기</a:t>
            </a:r>
            <a:endParaRPr lang="ko-KR" altLang="en-US" sz="1400" dirty="0"/>
          </a:p>
        </p:txBody>
      </p:sp>
      <p:sp>
        <p:nvSpPr>
          <p:cNvPr id="14" name="toc item"/>
          <p:cNvSpPr/>
          <p:nvPr/>
        </p:nvSpPr>
        <p:spPr>
          <a:xfrm>
            <a:off x="6492240" y="3849624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849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04</a:t>
            </a:r>
            <a:endParaRPr lang="ko-KR" alt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84962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어휘 퀴즈</a:t>
            </a:r>
            <a:endParaRPr lang="ko-KR" altLang="en-US" sz="1400" dirty="0"/>
          </a:p>
        </p:txBody>
      </p:sp>
      <p:sp>
        <p:nvSpPr>
          <p:cNvPr id="17" name="toc item"/>
          <p:cNvSpPr/>
          <p:nvPr/>
        </p:nvSpPr>
        <p:spPr>
          <a:xfrm>
            <a:off x="9189720" y="1325880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1325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05</a:t>
            </a:r>
            <a:endParaRPr lang="ko-KR" alt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829800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스스로 요약</a:t>
            </a:r>
            <a:endParaRPr lang="ko-KR" altLang="en-US" sz="1400" dirty="0"/>
          </a:p>
        </p:txBody>
      </p:sp>
      <p:sp>
        <p:nvSpPr>
          <p:cNvPr id="20" name="toc item"/>
          <p:cNvSpPr/>
          <p:nvPr/>
        </p:nvSpPr>
        <p:spPr>
          <a:xfrm>
            <a:off x="9189720" y="216712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72600" y="21671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06</a:t>
            </a:r>
            <a:endParaRPr lang="ko-KR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21671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생각 나누기</a:t>
            </a:r>
            <a:endParaRPr lang="ko-KR" altLang="en-US" sz="1400" dirty="0"/>
          </a:p>
        </p:txBody>
      </p:sp>
      <p:sp>
        <p:nvSpPr>
          <p:cNvPr id="23" name="toc item"/>
          <p:cNvSpPr/>
          <p:nvPr/>
        </p:nvSpPr>
        <p:spPr>
          <a:xfrm>
            <a:off x="9189720" y="3008376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7260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B08F"/>
                </a:solidFill>
              </a:rPr>
              <a:t>07</a:t>
            </a:r>
            <a:endParaRPr lang="ko-KR" alt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30083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내 학습 분석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01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반 코드로 입장하기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반 코드 6자리 입력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4564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첫 화면 '학생으로 시작하기'를 누르거나 QR을 찍으면 코드가 자동으로 들어가요.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번호·이름·PIN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34564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처음 입장할 때 정한 PIN 4자리가 내 비밀번호가 돼요. 회원가입은 필요 없어요.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안전한 잠금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34564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PIN을 5번 틀리면 5분 동안 잠겨요. 잊으면 선생님이 초기화해 줘요.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754880" y="2071689"/>
            <a:ext cx="3383280" cy="3583302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join-code" descr="join-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144841"/>
            <a:ext cx="3236976" cy="343699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754880" y="5746431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B7684"/>
                </a:solidFill>
              </a:rPr>
              <a:t>① 반 코드 입력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8275320" y="1987173"/>
            <a:ext cx="3383280" cy="375233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join-info" descr="join-inf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2060325"/>
            <a:ext cx="3236976" cy="360603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75320" y="5830947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B7684"/>
                </a:solidFill>
              </a:rPr>
              <a:t>② 번호·이름·PIN 입력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02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이번 주 학습지 고르기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배포된 학습지 확인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선생님이 배포한 학습지와 진행률(0/2 완료)이 보여요.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7063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기사 카드 누르기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18104"/>
            <a:ext cx="32735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기사마다 읽기·퀴즈·요약·생각 단계가 표시돼 어디까지 했는지 알 수 있어요.</a:t>
            </a:r>
            <a:endParaRPr lang="ko-KR" altLang="en-US" sz="1400" dirty="0"/>
          </a:p>
        </p:txBody>
      </p:sp>
      <p:sp>
        <p:nvSpPr>
          <p:cNvPr id="10" name="screenshot frame"/>
          <p:cNvSpPr/>
          <p:nvPr/>
        </p:nvSpPr>
        <p:spPr>
          <a:xfrm>
            <a:off x="4572000" y="2045566"/>
            <a:ext cx="7086600" cy="3635547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screenshot s-home" descr="s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2118718"/>
            <a:ext cx="6940296" cy="34892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03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기사 읽기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학년 수준에 맞춘 기사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2679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'왜 알아야 할까요?'로 읽을 이유를 먼저 알려 줘요.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파란 낱말 = 핵심 어휘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2679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누르면 뜻이 바로 떠요.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3849624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84962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꼼꼼히 끝까지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197096"/>
            <a:ext cx="2679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끝까지 스크롤하고 최소 읽기 시간을 채워야 퀴즈로 넘어가요.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261439" y="1417320"/>
            <a:ext cx="5376001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read" descr="r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591" y="1490472"/>
            <a:ext cx="5229697" cy="4425696"/>
          </a:xfrm>
          <a:prstGeom prst="rect">
            <a:avLst/>
          </a:prstGeom>
        </p:spPr>
      </p:pic>
      <p:sp>
        <p:nvSpPr>
          <p:cNvPr id="15" name="screen label"/>
          <p:cNvSpPr txBox="1"/>
          <p:nvPr/>
        </p:nvSpPr>
        <p:spPr>
          <a:xfrm>
            <a:off x="4444319" y="1600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기사 본문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8567928" y="3180437"/>
            <a:ext cx="3163824" cy="3064915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vocab" descr="voc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253589"/>
            <a:ext cx="3017520" cy="2918611"/>
          </a:xfrm>
          <a:prstGeom prst="rect">
            <a:avLst/>
          </a:prstGeom>
        </p:spPr>
      </p:pic>
      <p:sp>
        <p:nvSpPr>
          <p:cNvPr id="18" name="screen label"/>
          <p:cNvSpPr txBox="1"/>
          <p:nvPr/>
        </p:nvSpPr>
        <p:spPr>
          <a:xfrm>
            <a:off x="8750808" y="3363317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파란 낱말 뜻 보기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04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어휘 퀴즈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7문항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2679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문맥 속 빈칸 채우기 2 · 비슷한 말 2 · 내용 이해 3(사실·까닭과 영향·중심 생각)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2644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26440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바로 정답·해설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6118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답을 고르면 정답과 해설이 바로 나와요.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첫 답만 점수에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처음 고른 답만 점수에 반영돼요.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261439" y="1417320"/>
            <a:ext cx="5376001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quiz" descr="qu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591" y="1490472"/>
            <a:ext cx="5229697" cy="4425696"/>
          </a:xfrm>
          <a:prstGeom prst="rect">
            <a:avLst/>
          </a:prstGeom>
        </p:spPr>
      </p:pic>
      <p:sp>
        <p:nvSpPr>
          <p:cNvPr id="15" name="screen label"/>
          <p:cNvSpPr txBox="1"/>
          <p:nvPr/>
        </p:nvSpPr>
        <p:spPr>
          <a:xfrm>
            <a:off x="4444319" y="1600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문항 풀이와 해설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8567928" y="3545434"/>
            <a:ext cx="3163824" cy="2699918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quiz-done" descr="quiz-d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618586"/>
            <a:ext cx="3017520" cy="2553614"/>
          </a:xfrm>
          <a:prstGeom prst="rect">
            <a:avLst/>
          </a:prstGeom>
        </p:spPr>
      </p:pic>
      <p:sp>
        <p:nvSpPr>
          <p:cNvPr id="18" name="screen label"/>
          <p:cNvSpPr txBox="1"/>
          <p:nvPr/>
        </p:nvSpPr>
        <p:spPr>
          <a:xfrm>
            <a:off x="8750808" y="372831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퀴즈 결과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05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스스로 요약하고 AI 피드백 받기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내 말로 직접 쓰기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2679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기사를 옆에 두고 요약해요. 복사·붙여넣기는 막혀 있어요.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100점 만점 채점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64992"/>
            <a:ext cx="2679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핵심 내용 50 · 텍스트 재구성 30 · 문장 완성도 20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34340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피드백으로 다시 쓰기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690872"/>
            <a:ext cx="2679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잘한 점·빠진 내용·한 줄 조언을 보고 최대 3번까지 제출해요.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261439" y="1417320"/>
            <a:ext cx="5376001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summary" descr="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591" y="1490472"/>
            <a:ext cx="5229697" cy="4425696"/>
          </a:xfrm>
          <a:prstGeom prst="rect">
            <a:avLst/>
          </a:prstGeom>
        </p:spPr>
      </p:pic>
      <p:sp>
        <p:nvSpPr>
          <p:cNvPr id="15" name="screen label"/>
          <p:cNvSpPr txBox="1"/>
          <p:nvPr/>
        </p:nvSpPr>
        <p:spPr>
          <a:xfrm>
            <a:off x="4444319" y="1600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요약 쓰기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8567928" y="3545434"/>
            <a:ext cx="3163824" cy="2699918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feedback" descr="feedb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618586"/>
            <a:ext cx="3017520" cy="2553614"/>
          </a:xfrm>
          <a:prstGeom prst="rect">
            <a:avLst/>
          </a:prstGeom>
        </p:spPr>
      </p:pic>
      <p:sp>
        <p:nvSpPr>
          <p:cNvPr id="18" name="screen label"/>
          <p:cNvSpPr txBox="1"/>
          <p:nvPr/>
        </p:nvSpPr>
        <p:spPr>
          <a:xfrm>
            <a:off x="8750808" y="372831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AI 채점·피드백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06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생각 나누기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입장 고르기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질문에 대한 내 입장을 고르고 까닭을 써요.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70632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친구들 생각 보기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18104"/>
            <a:ext cx="2679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제출하면 반 친구들의 입장 비율과 의견을 이름 없이 볼 수 있어요.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4096512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096512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안전한 글쓰기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443984"/>
            <a:ext cx="2679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개인정보·욕설이 든 글은 제출되지 않고, 선생님이 의견을 숨길 수 있어요.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261439" y="1417320"/>
            <a:ext cx="5376001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opinion" descr="opin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591" y="1490472"/>
            <a:ext cx="5229697" cy="4425696"/>
          </a:xfrm>
          <a:prstGeom prst="rect">
            <a:avLst/>
          </a:prstGeom>
        </p:spPr>
      </p:pic>
      <p:sp>
        <p:nvSpPr>
          <p:cNvPr id="15" name="screen label"/>
          <p:cNvSpPr txBox="1"/>
          <p:nvPr/>
        </p:nvSpPr>
        <p:spPr>
          <a:xfrm>
            <a:off x="4444319" y="1600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입장과 까닭 쓰기</a:t>
            </a:r>
            <a:endParaRPr lang="ko-KR" altLang="en-US" sz="1200" dirty="0"/>
          </a:p>
        </p:txBody>
      </p:sp>
      <p:sp>
        <p:nvSpPr>
          <p:cNvPr id="16" name="screenshot frame"/>
          <p:cNvSpPr/>
          <p:nvPr/>
        </p:nvSpPr>
        <p:spPr>
          <a:xfrm>
            <a:off x="8567928" y="3375194"/>
            <a:ext cx="3163824" cy="2870158"/>
          </a:xfrm>
          <a:prstGeom prst="roundRect">
            <a:avLst>
              <a:gd name="adj" fmla="val 38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creenshot opinion-result" descr="opinion-res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448346"/>
            <a:ext cx="3017520" cy="2723854"/>
          </a:xfrm>
          <a:prstGeom prst="rect">
            <a:avLst/>
          </a:prstGeom>
        </p:spPr>
      </p:pic>
      <p:sp>
        <p:nvSpPr>
          <p:cNvPr id="18" name="screen label"/>
          <p:cNvSpPr txBox="1"/>
          <p:nvPr/>
        </p:nvSpPr>
        <p:spPr>
          <a:xfrm>
            <a:off x="8750808" y="3558074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우리 반 친구들의 생각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7A45"/>
                </a:solidFill>
              </a:rPr>
              <a:t>학생편 · 07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내 학습 분석</a:t>
            </a:r>
            <a:endParaRPr lang="ko-KR" altLang="en-US" sz="2800" dirty="0"/>
          </a:p>
        </p:txBody>
      </p:sp>
      <p:sp>
        <p:nvSpPr>
          <p:cNvPr id="4" name="step number"/>
          <p:cNvSpPr txBox="1"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91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AI 응원 한마디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3911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선생님이 확인한 격려 문장이 맨 위에 보여요.</a:t>
            </a:r>
            <a:endParaRPr lang="ko-KR" altLang="en-US" sz="1400" dirty="0"/>
          </a:p>
        </p:txBody>
      </p:sp>
      <p:sp>
        <p:nvSpPr>
          <p:cNvPr id="7" name="step number"/>
          <p:cNvSpPr txBox="1"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7063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어휘 퀴즈</a:t>
            </a:r>
            <a:endParaRPr lang="ko-KR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1810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전체 정답률과 유형별 정답률, 다시 볼 낱말을 알려 줘요.</a:t>
            </a:r>
            <a:endParaRPr lang="ko-KR" altLang="en-US" sz="1400" dirty="0"/>
          </a:p>
        </p:txBody>
      </p:sp>
      <p:sp>
        <p:nvSpPr>
          <p:cNvPr id="10" name="step number"/>
          <p:cNvSpPr txBox="1"/>
          <p:nvPr/>
        </p:nvSpPr>
        <p:spPr>
          <a:xfrm>
            <a:off x="548640" y="3849624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84962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91F28"/>
                </a:solidFill>
              </a:rPr>
              <a:t>요약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1970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6B7684"/>
                </a:solidFill>
              </a:rPr>
              <a:t>평균 점수와 영역별 점수, 점수 변화를 보여 줘요.</a:t>
            </a:r>
            <a:endParaRPr lang="ko-KR" altLang="en-US" sz="1400" dirty="0"/>
          </a:p>
        </p:txBody>
      </p:sp>
      <p:sp>
        <p:nvSpPr>
          <p:cNvPr id="13" name="screenshot frame"/>
          <p:cNvSpPr/>
          <p:nvPr/>
        </p:nvSpPr>
        <p:spPr>
          <a:xfrm>
            <a:off x="4572000" y="2104486"/>
            <a:ext cx="7086600" cy="3517708"/>
          </a:xfrm>
          <a:prstGeom prst="roundRect">
            <a:avLst>
              <a:gd name="adj" fmla="val 311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myreport" descr="my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2177638"/>
            <a:ext cx="6940296" cy="33714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329184"/>
            <a:ext cx="180594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3182F6"/>
                </a:solidFill>
              </a:rPr>
              <a:t>안전 · AI 사용 원칙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학생을 지키는 장치</a:t>
            </a:r>
            <a:endParaRPr lang="ko-KR" altLang="en-US" sz="2800" dirty="0"/>
          </a:p>
        </p:txBody>
      </p:sp>
      <p:sp>
        <p:nvSpPr>
          <p:cNvPr id="4" name="safety card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0A6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교사 인증 가입</a:t>
            </a:r>
            <a:endParaRPr lang="ko-KR" alt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교육청 메일(.go.kr) 인증을 거친 선생님만 반을 만들 수 있어요.</a:t>
            </a:r>
            <a:endParaRPr lang="ko-KR" altLang="en-US" sz="1300" dirty="0"/>
          </a:p>
        </p:txBody>
      </p:sp>
      <p:sp>
        <p:nvSpPr>
          <p:cNvPr id="8" name="safety card"/>
          <p:cNvSpPr/>
          <p:nvPr/>
        </p:nvSpPr>
        <p:spPr>
          <a:xfrm>
            <a:off x="4279392" y="16002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1874520"/>
            <a:ext cx="457200" cy="457200"/>
          </a:xfrm>
          <a:prstGeom prst="ellipse">
            <a:avLst/>
          </a:prstGeom>
          <a:solidFill>
            <a:srgbClr val="00A6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468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선생님 검토 후 배포</a:t>
            </a:r>
            <a:endParaRPr lang="ko-KR" alt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AI가 만든 기사·퀴즈는 선생님이 확인하고 고친 뒤에만 학생에게 보여요.</a:t>
            </a:r>
            <a:endParaRPr lang="ko-KR" altLang="en-US" sz="1300" dirty="0"/>
          </a:p>
        </p:txBody>
      </p:sp>
      <p:sp>
        <p:nvSpPr>
          <p:cNvPr id="12" name="safety card"/>
          <p:cNvSpPr/>
          <p:nvPr/>
        </p:nvSpPr>
        <p:spPr>
          <a:xfrm>
            <a:off x="8010144" y="16002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4464" y="1874520"/>
            <a:ext cx="457200" cy="457200"/>
          </a:xfrm>
          <a:prstGeom prst="ellipse">
            <a:avLst/>
          </a:prstGeom>
          <a:solidFill>
            <a:srgbClr val="00A6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468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이름은 AI에 보내지 않아요</a:t>
            </a:r>
            <a:endParaRPr lang="ko-KR" alt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요약 채점과 AI 의견을 만들 때 학생 이름·번호를 보내지 않아요.</a:t>
            </a:r>
            <a:endParaRPr lang="ko-KR" altLang="en-US" sz="1300" dirty="0"/>
          </a:p>
        </p:txBody>
      </p:sp>
      <p:sp>
        <p:nvSpPr>
          <p:cNvPr id="16" name="safety card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0A6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글 자동 점검</a:t>
            </a:r>
            <a:endParaRPr lang="ko-KR" alt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전화번호·이메일 같은 개인정보와 욕설이 든 글은 AI 전송 전에 막아요.</a:t>
            </a:r>
            <a:endParaRPr lang="ko-KR" altLang="en-US" sz="1300" dirty="0"/>
          </a:p>
        </p:txBody>
      </p:sp>
      <p:sp>
        <p:nvSpPr>
          <p:cNvPr id="20" name="safety card"/>
          <p:cNvSpPr/>
          <p:nvPr/>
        </p:nvSpPr>
        <p:spPr>
          <a:xfrm>
            <a:off x="4279392" y="38862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3712" y="4160520"/>
            <a:ext cx="457200" cy="457200"/>
          </a:xfrm>
          <a:prstGeom prst="ellipse">
            <a:avLst/>
          </a:prstGeom>
          <a:solidFill>
            <a:srgbClr val="00A6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754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익명 의견 · 숨기기</a:t>
            </a:r>
            <a:endParaRPr lang="ko-KR" alt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생각 나누기 의견은 이름 없이 같은 반에만 보이고, 선생님이 숨길 수 있어요.</a:t>
            </a:r>
            <a:endParaRPr lang="ko-KR" altLang="en-US" sz="1300" dirty="0"/>
          </a:p>
        </p:txBody>
      </p:sp>
      <p:sp>
        <p:nvSpPr>
          <p:cNvPr id="24" name="safety card"/>
          <p:cNvSpPr/>
          <p:nvPr/>
        </p:nvSpPr>
        <p:spPr>
          <a:xfrm>
            <a:off x="8010144" y="388620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84464" y="4160520"/>
            <a:ext cx="457200" cy="457200"/>
          </a:xfrm>
          <a:prstGeom prst="ellipse">
            <a:avLst/>
          </a:prstGeom>
          <a:solidFill>
            <a:srgbClr val="00A6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4754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91F28"/>
                </a:solidFill>
              </a:rPr>
              <a:t>AI 사용 고지</a:t>
            </a:r>
            <a:endParaRPr lang="ko-KR" alt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684"/>
                </a:solidFill>
              </a:rPr>
              <a:t>입장·기사·피드백 화면과 운영 정책 페이지에서 AI 사용을 알려요.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8EC2FF"/>
                </a:solidFill>
              </a:rPr>
              <a:t>직접 체험해 보세요</a:t>
            </a:r>
            <a:endParaRPr lang="ko-KR" alt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가입 없이</a:t>
            </a:r>
            <a:endParaRPr lang="ko-KR" altLang="en-US" sz="4000" dirty="0"/>
          </a:p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베타 테스트로 체험</a:t>
            </a:r>
            <a:endParaRPr lang="ko-KR" alt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38404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첫 화면에서 '선생님으로 시작하기'</a:t>
            </a:r>
            <a:endParaRPr lang="ko-KR" alt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4343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'가입 전에 베타 테스트로 먼저 체험해 보기'</a:t>
            </a:r>
            <a:endParaRPr lang="ko-KR" alt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4632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48463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'체험용 반으로 들어가기' → 선생님 화면 체험</a:t>
            </a:r>
            <a:endParaRPr lang="ko-KR" alt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49240"/>
            <a:ext cx="329184" cy="329184"/>
          </a:xfrm>
          <a:prstGeom prst="ellipse">
            <a:avLst/>
          </a:prstGeom>
          <a:solidFill>
            <a:srgbClr val="31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5349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체험용 반의 반 코드로 학생 화면도 체험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</a:rPr>
              <a:t>체험 계정은 예시 기사로 동작해 AI 비용이 들지 않아요. 실제 학생 이름은 넣지 마세요.</a:t>
            </a:r>
            <a:endParaRPr lang="ko-KR" altLang="en-US" sz="1200" dirty="0"/>
          </a:p>
        </p:txBody>
      </p:sp>
      <p:sp>
        <p:nvSpPr>
          <p:cNvPr id="13" name="screenshot frame"/>
          <p:cNvSpPr/>
          <p:nvPr/>
        </p:nvSpPr>
        <p:spPr>
          <a:xfrm>
            <a:off x="7536508" y="685800"/>
            <a:ext cx="3306424" cy="5486400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screenshot beta" descr="베타 테스트 체험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9660" y="758952"/>
            <a:ext cx="3160120" cy="5340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ading Practice">
  <a:themeElements>
    <a:clrScheme name="Reading Practice">
      <a:dk1>
        <a:srgbClr val="191F28"/>
      </a:dk1>
      <a:lt1>
        <a:srgbClr val="FFFFFF"/>
      </a:lt1>
      <a:dk2>
        <a:srgbClr val="333D4B"/>
      </a:dk2>
      <a:lt2>
        <a:srgbClr val="F2F4F6"/>
      </a:lt2>
      <a:accent1>
        <a:srgbClr val="3182F6"/>
      </a:accent1>
      <a:accent2>
        <a:srgbClr val="FF7A45"/>
      </a:accent2>
      <a:accent3>
        <a:srgbClr val="00A661"/>
      </a:accent3>
      <a:accent4>
        <a:srgbClr val="8B95A1"/>
      </a:accent4>
      <a:accent5>
        <a:srgbClr val="E8F3FF"/>
      </a:accent5>
      <a:accent6>
        <a:srgbClr val="FFF1EA"/>
      </a:accent6>
      <a:hlink>
        <a:srgbClr val="3182F6"/>
      </a:hlink>
      <a:folHlink>
        <a:srgbClr val="6B7684"/>
      </a:folHlink>
    </a:clrScheme>
    <a:fontScheme name="Reading Practice">
      <a:majorFont>
        <a:latin typeface="맑은 고딕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시사 문해력 기르기 학습지 · 웹사이트 사용 안내서</dc:title>
  <dc:subject>교사용 · 학생용 화면 안내</dc:subject>
  <dc:creator>융융쌤</dc:creator>
  <cp:lastModifiedBy>융융쌤</cp:lastModifiedBy>
  <cp:revision>1</cp:revision>
  <dcterms:created xsi:type="dcterms:W3CDTF">2026-10-17T03:12:19Z</dcterms:created>
  <dcterms:modified xsi:type="dcterms:W3CDTF">2026-10-17T03:12:19Z</dcterms:modified>
</cp:coreProperties>
</file>